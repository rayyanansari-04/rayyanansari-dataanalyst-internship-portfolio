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487" y="3705225"/>
            <a:ext cx="5153025" cy="771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5457" y="2381250"/>
            <a:ext cx="868108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b="1" sz="3750" i="0" u="none">
                <a:solidFill>
                  <a:srgbClr val="1E3A8A"/>
                </a:solidFill>
                <a:latin typeface="Poppins"/>
              </a:rPr>
              <a:t>APEXPLANET SOFTWARE PVT.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38550" y="3048000"/>
            <a:ext cx="49149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3B82F6"/>
                </a:solidFill>
                <a:latin typeface="Lato SemiBold"/>
              </a:rPr>
              <a:t>Data Analytics Capstone Portfolio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10012" y="3905250"/>
            <a:ext cx="10953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Lato"/>
              </a:rPr>
              <a:t>Presented By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2563EB"/>
                </a:solidFill>
                <a:latin typeface="Lato"/>
              </a:rPr>
              <a:t>Rayyan Ansari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86387" y="3905250"/>
            <a:ext cx="13239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Lato"/>
              </a:rPr>
              <a:t>Internship Term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2563EB"/>
                </a:solidFill>
                <a:latin typeface="Lato"/>
              </a:rPr>
              <a:t>60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91362" y="3905250"/>
            <a:ext cx="1190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Lato"/>
              </a:rPr>
              <a:t>Specialization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2563EB"/>
                </a:solidFill>
                <a:latin typeface="Lato"/>
              </a:rPr>
              <a:t>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89014"/>
            <a:ext cx="5191125" cy="25086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89014"/>
            <a:ext cx="5191125" cy="25086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9225" y="2912864"/>
            <a:ext cx="4450556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3A8A"/>
                </a:solidFill>
                <a:latin typeface="Poppins"/>
              </a:rPr>
              <a:t>Internship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75" y="3370064"/>
            <a:ext cx="4600575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Lato"/>
              </a:rPr>
              <a:t>During this comprehensive 60-day Data Analytics Internship at ApexPlanet Software Pvt. Ltd., I worked on real-world data analytics pipelines, driving business decisions via raw data transformation.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8950" y="2912864"/>
            <a:ext cx="4510563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3A8A"/>
                </a:solidFill>
                <a:latin typeface="Poppins"/>
              </a:rPr>
              <a:t>Key Domains Explored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2965251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965251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53250" y="3370064"/>
            <a:ext cx="41814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Data Wrangling: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Structured cleaning &amp; anomaly removal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0" y="3728144"/>
            <a:ext cx="41814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Exploratory Data Analysis: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Statistical distributions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0" y="4086225"/>
            <a:ext cx="41814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Interactive Dashboarding: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BI visualization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0" y="4444305"/>
            <a:ext cx="41814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Data Storytelling: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Transforming findings into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oppins"/>
              </a:rPr>
              <a:t>ABOUT THE INTERNSHIP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650" y="3389114"/>
            <a:ext cx="76200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650" y="3747194"/>
            <a:ext cx="76200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650" y="4105275"/>
            <a:ext cx="76200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650" y="4463355"/>
            <a:ext cx="762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28900"/>
            <a:ext cx="3403550" cy="2428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50" y="2628900"/>
            <a:ext cx="3403550" cy="2428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300" y="2628900"/>
            <a:ext cx="3403699" cy="2428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6942" y="3505200"/>
            <a:ext cx="307366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oppins"/>
              </a:rPr>
              <a:t>Programming &amp;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59092" y="3505200"/>
            <a:ext cx="307366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oppins"/>
              </a:rPr>
              <a:t>Data Handling &amp; Querying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239" y="3505200"/>
            <a:ext cx="307382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oppins"/>
              </a:rPr>
              <a:t>Visual BI &amp; Git Control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7963" y="2905125"/>
            <a:ext cx="371475" cy="419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90625" y="3905250"/>
            <a:ext cx="2736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Python (Pandas &amp; NumPy)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4210050"/>
            <a:ext cx="2736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Matplotlib &amp; Seaborn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4514850"/>
            <a:ext cx="2736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Jupyter Notebooks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0113" y="2914650"/>
            <a:ext cx="371475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22775" y="3905250"/>
            <a:ext cx="2736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SQL Queries &amp; Aggregations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2775" y="4210050"/>
            <a:ext cx="2736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Microsoft Excel (Formulas)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2775" y="4514850"/>
            <a:ext cx="2736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VS Code Environment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0025" y="2914650"/>
            <a:ext cx="476250" cy="419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54925" y="3905250"/>
            <a:ext cx="273694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Power BI Desktop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4925" y="4210050"/>
            <a:ext cx="273694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Git Versioning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4925" y="4514850"/>
            <a:ext cx="273694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GitHub Cloud Repos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3957637"/>
            <a:ext cx="114300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4262437"/>
            <a:ext cx="114300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4567237"/>
            <a:ext cx="114300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2275" y="3957637"/>
            <a:ext cx="114300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2275" y="4262437"/>
            <a:ext cx="114300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2275" y="4567237"/>
            <a:ext cx="114300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4425" y="3957637"/>
            <a:ext cx="114300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4425" y="4262437"/>
            <a:ext cx="114300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4425" y="4567237"/>
            <a:ext cx="114300" cy="1238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oppins"/>
              </a:rPr>
              <a:t>TOOLS &amp; TECHNOLOGIES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405211"/>
            <a:ext cx="9525000" cy="857101"/>
          </a:xfrm>
          <a:prstGeom prst="roundRect">
            <a:avLst>
              <a:gd name="adj" fmla="val 88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33500" y="3414712"/>
            <a:ext cx="9525000" cy="857101"/>
          </a:xfrm>
          <a:prstGeom prst="roundRect">
            <a:avLst>
              <a:gd name="adj" fmla="val 88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33500" y="4424213"/>
            <a:ext cx="9525000" cy="857101"/>
          </a:xfrm>
          <a:prstGeom prst="roundRect">
            <a:avLst>
              <a:gd name="adj" fmla="val 88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3252787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14525" y="2567136"/>
            <a:ext cx="8705850" cy="533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1E293B"/>
                </a:solidFill>
                <a:latin typeface="Lato"/>
              </a:rPr>
              <a:t>Data Quality Assessments:</a:t>
            </a:r>
            <a:r>
              <a:rPr b="0" sz="1275" i="0" u="none">
                <a:solidFill>
                  <a:srgbClr val="475569"/>
                </a:solidFill>
                <a:latin typeface="Lato"/>
              </a:rPr>
              <a:t> Explored raw messy datasets, identifying anomalies, missing parameters, and inconsistent categorical entries.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3500" y="4262288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14525" y="3576637"/>
            <a:ext cx="8705850" cy="533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1E293B"/>
                </a:solidFill>
                <a:latin typeface="Lato"/>
              </a:rPr>
              <a:t>Data Cleansing:</a:t>
            </a:r>
            <a:r>
              <a:rPr b="0" sz="1275" i="0" u="none">
                <a:solidFill>
                  <a:srgbClr val="475569"/>
                </a:solidFill>
                <a:latin typeface="Lato"/>
              </a:rPr>
              <a:t> Executed systematic duplicate removal, handled empty data arrays smoothly, and standardized mismatched units.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271789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4525" y="4586138"/>
            <a:ext cx="8705850" cy="533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1E293B"/>
                </a:solidFill>
                <a:latin typeface="Lato"/>
              </a:rPr>
              <a:t>Documentation:</a:t>
            </a:r>
            <a:r>
              <a:rPr b="0" sz="1275" i="0" u="none">
                <a:solidFill>
                  <a:srgbClr val="475569"/>
                </a:solidFill>
                <a:latin typeface="Lato"/>
              </a:rPr>
              <a:t> Constructed an extensive data dictionary defining variables, data types, and primary keys for business users.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2581423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3590925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4600426"/>
            <a:ext cx="19050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oppins"/>
              </a:rPr>
              <a:t>TASK 1: DATA WRANGLING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2033587"/>
            <a:ext cx="46291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530078"/>
            <a:ext cx="594074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1E293B"/>
                </a:solidFill>
                <a:latin typeface="Poppins"/>
              </a:rPr>
              <a:t>Student Performance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949178"/>
            <a:ext cx="5657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Lato"/>
              </a:rPr>
              <a:t>Designed a rigorous Exploratory Data Analysis (EDA) framework in Python to evaluate the academic behavior profiles of students.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950" y="2071687"/>
            <a:ext cx="3190875" cy="180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600" y="3724275"/>
            <a:ext cx="54292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Mapped out performance metrics via custom Histograms.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4082355"/>
            <a:ext cx="54292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Calculated descriptive statistics (mean, median, standard deviations).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4440435"/>
            <a:ext cx="54292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Used SQL queries to extract demographic correlations.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798516"/>
            <a:ext cx="54292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Created clean mock-ups for standard performance metrics.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oppins"/>
              </a:rPr>
              <a:t>TASK 2: PERFORMANCE EDA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743325"/>
            <a:ext cx="76200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101405"/>
            <a:ext cx="76200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459485"/>
            <a:ext cx="76200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817566"/>
            <a:ext cx="762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2033587"/>
            <a:ext cx="46291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709118"/>
            <a:ext cx="594074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1E293B"/>
                </a:solidFill>
                <a:latin typeface="Poppins"/>
              </a:rPr>
              <a:t>E-commerce Sales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28218"/>
            <a:ext cx="5657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Lato"/>
              </a:rPr>
              <a:t>Engineered an interactive, high-fidelity Power BI Dashboard tracking critical transactional metrics and retail behavior patterns.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950" y="2071687"/>
            <a:ext cx="3257550" cy="180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600" y="3903315"/>
            <a:ext cx="54292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KPI Metrics: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Synthesized Net Sales, Profit, and Returns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4261395"/>
            <a:ext cx="54292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Regional Performance: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Tracked sales across geographical sectors.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4619476"/>
            <a:ext cx="54292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Filters: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Enabled dynamic category-wise slice parameters.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oppins"/>
              </a:rPr>
              <a:t>TASK 3: POWER BI DASHBOARDS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922365"/>
            <a:ext cx="76200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280445"/>
            <a:ext cx="76200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638526"/>
            <a:ext cx="762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859583"/>
            <a:ext cx="5191125" cy="19675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859583"/>
            <a:ext cx="5191125" cy="19675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62075" y="3183433"/>
            <a:ext cx="4510563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3A8A"/>
                </a:solidFill>
                <a:latin typeface="Poppins"/>
              </a:rPr>
              <a:t>Business Data Storytelling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75" y="3640633"/>
            <a:ext cx="460057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Lato"/>
              </a:rPr>
              <a:t>Translated core mathematical findings into an engaging business story deck. Highlighted practical avenues for improvement rather than just cold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67525" y="3183433"/>
            <a:ext cx="4480560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3A8A"/>
                </a:solidFill>
                <a:latin typeface="Poppins"/>
              </a:rPr>
              <a:t>Statistical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640633"/>
            <a:ext cx="460057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Lato"/>
              </a:rPr>
              <a:t>Conducted formal hypothesis testing to validate performance indicators. Ensured observed variations were statistically significant and not just random fluctuations.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3235821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235821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oppins"/>
              </a:rPr>
              <a:t>TASK 4: STORY &amp;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94682"/>
            <a:ext cx="3403550" cy="22971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50" y="2694682"/>
            <a:ext cx="3403550" cy="22971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300" y="2694682"/>
            <a:ext cx="3403699" cy="22971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6942" y="3599557"/>
            <a:ext cx="307366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oppins"/>
              </a:rPr>
              <a:t>Data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999607"/>
            <a:ext cx="29273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Mastered end-to-end data cleaning, handling null values, database querying, data profiling, and structuring.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9092" y="3599557"/>
            <a:ext cx="307366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oppins"/>
              </a:rPr>
              <a:t>Business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2275" y="3999607"/>
            <a:ext cx="29273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Acquired skills in visual narrative development, key metric formulation (KPIs), dashboard styling, and diagnostic analytics.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239" y="3599557"/>
            <a:ext cx="307382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oppins"/>
              </a:rPr>
              <a:t>Professionalism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4425" y="3999607"/>
            <a:ext cx="292744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Lato"/>
              </a:rPr>
              <a:t>Gained experience in version control workflows on GitHub, documenting code, structured delivery, and technical communication.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1763" y="3009007"/>
            <a:ext cx="523875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6301" y="3009007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6212" y="3009007"/>
            <a:ext cx="523875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oppins"/>
              </a:rPr>
              <a:t>KEY SKILLS GAINED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534691"/>
            <a:ext cx="9525000" cy="598140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33500" y="3285232"/>
            <a:ext cx="9525000" cy="857101"/>
          </a:xfrm>
          <a:prstGeom prst="roundRect">
            <a:avLst>
              <a:gd name="adj" fmla="val 88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33500" y="4294733"/>
            <a:ext cx="9525000" cy="857101"/>
          </a:xfrm>
          <a:prstGeom prst="roundRect">
            <a:avLst>
              <a:gd name="adj" fmla="val 88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3123307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43100" y="2696616"/>
            <a:ext cx="84582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1E293B"/>
                </a:solidFill>
                <a:latin typeface="Lato"/>
              </a:rPr>
              <a:t>Clean Raw Data is Key:</a:t>
            </a:r>
            <a:r>
              <a:rPr b="0" sz="1275" i="0" u="none">
                <a:solidFill>
                  <a:srgbClr val="475569"/>
                </a:solidFill>
                <a:latin typeface="Lato"/>
              </a:rPr>
              <a:t> Raw analytics results are only as reliable as the underlying data wrangling steps applied to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3500" y="4132808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3100" y="3447157"/>
            <a:ext cx="8677275" cy="533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1E293B"/>
                </a:solidFill>
                <a:latin typeface="Lato"/>
              </a:rPr>
              <a:t>Decisions Over Displays:</a:t>
            </a:r>
            <a:r>
              <a:rPr b="0" sz="1275" i="0" u="none">
                <a:solidFill>
                  <a:srgbClr val="475569"/>
                </a:solidFill>
                <a:latin typeface="Lato"/>
              </a:rPr>
              <a:t> Dashboard visuals must prioritize clear, actionable answers to business questions over fancy, complicated charts.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42309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3100" y="4456658"/>
            <a:ext cx="8677275" cy="533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1E293B"/>
                </a:solidFill>
                <a:latin typeface="Lato"/>
              </a:rPr>
              <a:t>Version Control is Crucial:</a:t>
            </a:r>
            <a:r>
              <a:rPr b="0" sz="1275" i="0" u="none">
                <a:solidFill>
                  <a:srgbClr val="475569"/>
                </a:solidFill>
                <a:latin typeface="Lato"/>
              </a:rPr>
              <a:t> Proper git version tracking keeps development code organized and allows for seamless team collaboration.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2710904"/>
            <a:ext cx="2190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3461444"/>
            <a:ext cx="21907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4470945"/>
            <a:ext cx="219075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oppins"/>
              </a:rPr>
              <a:t>KEY LEARNINGS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3729930"/>
            <a:ext cx="3429000" cy="981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35805" y="2146994"/>
            <a:ext cx="312039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1E3A8A"/>
                </a:solidFill>
                <a:latin typeface="Poppi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5262" y="3013769"/>
            <a:ext cx="418147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B5563"/>
                </a:solidFill>
                <a:latin typeface="Lato"/>
              </a:rPr>
              <a:t>Data Analytics Internship Capstone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62525" y="3968055"/>
            <a:ext cx="22669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Lato"/>
              </a:rPr>
              <a:t>Rayyan Ansari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2525" y="4291905"/>
            <a:ext cx="22669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B82F6"/>
                </a:solidFill>
                <a:latin typeface="Lato SemiBold"/>
              </a:rPr>
              <a:t>ApexPlanet Data Analytics Intern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3063329"/>
            <a:ext cx="10668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383857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383857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12752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57375" y="3206204"/>
            <a:ext cx="9572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Lato"/>
              </a:rPr>
              <a:t>https://cdn.prod.website-files.com/67af3db5bb3b892e61258bd4/684150a03f50d03f6f023a30_analytics-dashboard.png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7375" y="3451919"/>
            <a:ext cx="9572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www.domo.com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997523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57375" y="3990975"/>
            <a:ext cx="9572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Lato"/>
              </a:rPr>
              <a:t>https://www.slideteam.net/media/catalog/product/cache/1280x720/a/n/analysis_of_ecommerce_sales_in_power_bi_slide01.jpg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7375" y="4236690"/>
            <a:ext cx="9572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www.slideteam.net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